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772400" cy="10058400"/>
  <p:notesSz cx="10058400" cy="77724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7772400" cy="1417320"/>
          </a:xfrm>
          <a:prstGeom prst="rect">
            <a:avLst/>
          </a:prstGeom>
          <a:solidFill>
            <a:srgbClr val="1620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rand"/>
          <p:cNvSpPr txBox="1"/>
          <p:nvPr/>
        </p:nvSpPr>
        <p:spPr>
          <a:xfrm>
            <a:off x="566928" y="237744"/>
            <a:ext cx="6638544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000" b="1">
                <a:solidFill>
                  <a:srgbClr val="35C6E6"/>
                </a:solidFill>
                <a:latin typeface="Segoe UI"/>
              </a:rPr>
              <a:t>MONZA CLOUD   ·   CASE STUDY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66928" y="530352"/>
            <a:ext cx="6638544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Segoe UI"/>
              </a:rPr>
              <a:t>Phase 2: Building Nova's Foundation</a:t>
            </a:r>
          </a:p>
        </p:txBody>
      </p:sp>
      <p:sp>
        <p:nvSpPr>
          <p:cNvPr id="5" name="intro"/>
          <p:cNvSpPr txBox="1"/>
          <p:nvPr/>
        </p:nvSpPr>
        <p:spPr>
          <a:xfrm>
            <a:off x="566928" y="1645920"/>
            <a:ext cx="6638544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200">
                <a:solidFill>
                  <a:srgbClr val="2B2F45"/>
                </a:solidFill>
                <a:latin typeface="Segoe UI"/>
              </a:rPr>
              <a:t>A first look at Nova in active development — the new desktop shell, core navigation, and in-platform notifications taking shape across early Phase 2.</a:t>
            </a:r>
          </a:p>
        </p:txBody>
      </p:sp>
      <p:sp>
        <p:nvSpPr>
          <p:cNvPr id="6" name="hero_img"/>
          <p:cNvSpPr/>
          <p:nvPr/>
        </p:nvSpPr>
        <p:spPr>
          <a:xfrm>
            <a:off x="566928" y="2514600"/>
            <a:ext cx="6638544" cy="3840480"/>
          </a:xfrm>
          <a:prstGeom prst="rect">
            <a:avLst/>
          </a:prstGeom>
          <a:solidFill>
            <a:srgbClr val="F4F6FB"/>
          </a:solidFill>
          <a:ln w="25400" cap="flat">
            <a:solidFill>
              <a:srgbClr val="B9C2DD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en-US" sz="1100" b="1">
                <a:solidFill>
                  <a:srgbClr val="5A6072"/>
                </a:solidFill>
                <a:latin typeface="Segoe UI"/>
              </a:rPr>
              <a:t>IMAGE 1 — ANM with Menu (hero)</a:t>
            </a:r>
          </a:p>
          <a:p>
            <a:pPr algn="ctr"/>
            <a:r>
              <a:rPr lang="en-US" sz="800">
                <a:solidFill>
                  <a:srgbClr val="5A6072"/>
                </a:solidFill>
                <a:latin typeface="Segoe UI"/>
              </a:rPr>
              <a:t>Right-click → Change Picture, or Insert → Pictures, to place your screenshot here</a:t>
            </a:r>
          </a:p>
        </p:txBody>
      </p:sp>
      <p:sp>
        <p:nvSpPr>
          <p:cNvPr id="7" name="hero_cap"/>
          <p:cNvSpPr txBox="1"/>
          <p:nvPr/>
        </p:nvSpPr>
        <p:spPr>
          <a:xfrm>
            <a:off x="566928" y="6409944"/>
            <a:ext cx="6638544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16205A"/>
                </a:solidFill>
                <a:latin typeface="Segoe UI"/>
              </a:rPr>
              <a:t>Nova, in active development. </a:t>
            </a:r>
            <a:r>
              <a:rPr lang="en-US" sz="900">
                <a:solidFill>
                  <a:srgbClr val="5A6072"/>
                </a:solidFill>
                <a:latin typeface="Segoe UI"/>
              </a:rPr>
              <a:t>The new desktop shell — core navigation and a modern detail view — taking shape in early Phase 2.</a:t>
            </a:r>
          </a:p>
        </p:txBody>
      </p:sp>
      <p:sp>
        <p:nvSpPr>
          <p:cNvPr id="8" name="img2"/>
          <p:cNvSpPr/>
          <p:nvPr/>
        </p:nvSpPr>
        <p:spPr>
          <a:xfrm>
            <a:off x="566928" y="6858000"/>
            <a:ext cx="3204972" cy="2331720"/>
          </a:xfrm>
          <a:prstGeom prst="rect">
            <a:avLst/>
          </a:prstGeom>
          <a:solidFill>
            <a:srgbClr val="F4F6FB"/>
          </a:solidFill>
          <a:ln w="25400" cap="flat">
            <a:solidFill>
              <a:srgbClr val="B9C2DD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en-US" sz="1100" b="1">
                <a:solidFill>
                  <a:srgbClr val="5A6072"/>
                </a:solidFill>
                <a:latin typeface="Segoe UI"/>
              </a:rPr>
              <a:t>IMAGE 2 — Notifications</a:t>
            </a:r>
          </a:p>
          <a:p>
            <a:pPr algn="ctr"/>
            <a:r>
              <a:rPr lang="en-US" sz="800">
                <a:solidFill>
                  <a:srgbClr val="5A6072"/>
                </a:solidFill>
                <a:latin typeface="Segoe UI"/>
              </a:rPr>
              <a:t>Right-click → Change Picture, or Insert → Pictures, to place your screenshot here</a:t>
            </a:r>
          </a:p>
        </p:txBody>
      </p:sp>
      <p:sp>
        <p:nvSpPr>
          <p:cNvPr id="9" name="cap2"/>
          <p:cNvSpPr txBox="1"/>
          <p:nvPr/>
        </p:nvSpPr>
        <p:spPr>
          <a:xfrm>
            <a:off x="566928" y="9235440"/>
            <a:ext cx="320497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16205A"/>
                </a:solidFill>
                <a:latin typeface="Segoe UI"/>
              </a:rPr>
              <a:t>Notifications. </a:t>
            </a:r>
            <a:r>
              <a:rPr lang="en-US" sz="900">
                <a:solidFill>
                  <a:srgbClr val="5A6072"/>
                </a:solidFill>
                <a:latin typeface="Segoe UI"/>
              </a:rPr>
              <a:t>In-platform alerts keep dealership teams aligned.</a:t>
            </a:r>
          </a:p>
        </p:txBody>
      </p:sp>
      <p:sp>
        <p:nvSpPr>
          <p:cNvPr id="10" name="img3"/>
          <p:cNvSpPr/>
          <p:nvPr/>
        </p:nvSpPr>
        <p:spPr>
          <a:xfrm>
            <a:off x="4000500" y="6858000"/>
            <a:ext cx="3204972" cy="2331720"/>
          </a:xfrm>
          <a:prstGeom prst="rect">
            <a:avLst/>
          </a:prstGeom>
          <a:solidFill>
            <a:srgbClr val="F4F6FB"/>
          </a:solidFill>
          <a:ln w="25400" cap="flat">
            <a:solidFill>
              <a:srgbClr val="B9C2DD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en-US" sz="1100" b="1">
                <a:solidFill>
                  <a:srgbClr val="5A6072"/>
                </a:solidFill>
                <a:latin typeface="Segoe UI"/>
              </a:rPr>
              <a:t>IMAGE 3 — Notification detail</a:t>
            </a:r>
          </a:p>
          <a:p>
            <a:pPr algn="ctr"/>
            <a:r>
              <a:rPr lang="en-US" sz="800">
                <a:solidFill>
                  <a:srgbClr val="5A6072"/>
                </a:solidFill>
                <a:latin typeface="Segoe UI"/>
              </a:rPr>
              <a:t>Right-click → Change Picture, or Insert → Pictures, to place your screenshot here</a:t>
            </a:r>
          </a:p>
        </p:txBody>
      </p:sp>
      <p:sp>
        <p:nvSpPr>
          <p:cNvPr id="11" name="cap3"/>
          <p:cNvSpPr txBox="1"/>
          <p:nvPr/>
        </p:nvSpPr>
        <p:spPr>
          <a:xfrm>
            <a:off x="4000500" y="9235440"/>
            <a:ext cx="320497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16205A"/>
                </a:solidFill>
                <a:latin typeface="Segoe UI"/>
              </a:rPr>
              <a:t>At a glance. </a:t>
            </a:r>
            <a:r>
              <a:rPr lang="en-US" sz="900">
                <a:solidFill>
                  <a:srgbClr val="5A6072"/>
                </a:solidFill>
                <a:latin typeface="Segoe UI"/>
              </a:rPr>
              <a:t>A consolidated view of what needs attention.</a:t>
            </a:r>
          </a:p>
        </p:txBody>
      </p:sp>
      <p:sp>
        <p:nvSpPr>
          <p:cNvPr id="12" name="accent"/>
          <p:cNvSpPr/>
          <p:nvPr/>
        </p:nvSpPr>
        <p:spPr>
          <a:xfrm>
            <a:off x="566928" y="1371600"/>
            <a:ext cx="1188720" cy="45720"/>
          </a:xfrm>
          <a:prstGeom prst="rect">
            <a:avLst/>
          </a:prstGeom>
          <a:solidFill>
            <a:srgbClr val="29B6D8"/>
          </a:solidFill>
          <a:ln>
            <a:noFill/>
          </a:ln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6205A"/>
      </a:dk2>
      <a:lt2>
        <a:srgbClr val="EEF2FB"/>
      </a:lt2>
      <a:accent1>
        <a:srgbClr val="29B6D8"/>
      </a:accent1>
      <a:accent2>
        <a:srgbClr val="35C6E6"/>
      </a:accent2>
      <a:accent3>
        <a:srgbClr val="1B2A6B"/>
      </a:accent3>
      <a:accent4>
        <a:srgbClr val="5A6072"/>
      </a:accent4>
      <a:accent5>
        <a:srgbClr val="AEB7DD"/>
      </a:accent5>
      <a:accent6>
        <a:srgbClr val="243A8A"/>
      </a:accent6>
      <a:hlink>
        <a:srgbClr val="29B6D8"/>
      </a:hlink>
      <a:folHlink>
        <a:srgbClr val="1B2A6B"/>
      </a:folHlink>
    </a:clrScheme>
    <a:fontScheme name="Offi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